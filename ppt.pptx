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4" r:id="rId7"/>
    <p:sldId id="265" r:id="rId8"/>
    <p:sldId id="266" r:id="rId9"/>
    <p:sldId id="267" r:id="rId10"/>
    <p:sldId id="268" r:id="rId11"/>
    <p:sldId id="269" r:id="rId12"/>
    <p:sldId id="270" r:id="rId13"/>
    <p:sldId id="271" r:id="rId14"/>
    <p:sldId id="261" r:id="rId15"/>
    <p:sldId id="262" r:id="rId16"/>
    <p:sldId id="263"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842" autoAdjust="0"/>
  </p:normalViewPr>
  <p:slideViewPr>
    <p:cSldViewPr snapToGrid="0" snapToObjects="1">
      <p:cViewPr varScale="1">
        <p:scale>
          <a:sx n="60" d="100"/>
          <a:sy n="60" d="100"/>
        </p:scale>
        <p:origin x="146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8547" y="1647705"/>
            <a:ext cx="7772400" cy="1470025"/>
          </a:xfrm>
        </p:spPr>
        <p:txBody>
          <a:bodyPr>
            <a:normAutofit fontScale="90000"/>
          </a:bodyPr>
          <a:lstStyle/>
          <a:p>
            <a:r>
              <a:rPr lang="en-US" dirty="0"/>
              <a:t>Crop Recommendation System: A Data-Driven Approach to Precision Agriculture</a:t>
            </a:r>
            <a:br>
              <a:rPr lang="en-US" dirty="0"/>
            </a:br>
            <a:endParaRPr dirty="0"/>
          </a:p>
        </p:txBody>
      </p:sp>
      <p:sp>
        <p:nvSpPr>
          <p:cNvPr id="3" name="Subtitle 2"/>
          <p:cNvSpPr>
            <a:spLocks noGrp="1"/>
          </p:cNvSpPr>
          <p:nvPr>
            <p:ph type="subTitle" idx="1"/>
          </p:nvPr>
        </p:nvSpPr>
        <p:spPr>
          <a:xfrm>
            <a:off x="1069675" y="3295410"/>
            <a:ext cx="6400800" cy="3623094"/>
          </a:xfrm>
        </p:spPr>
        <p:txBody>
          <a:bodyPr>
            <a:normAutofit/>
          </a:bodyPr>
          <a:lstStyle/>
          <a:p>
            <a:pPr algn="just"/>
            <a:endParaRPr dirty="0"/>
          </a:p>
          <a:p>
            <a:r>
              <a:rPr dirty="0"/>
              <a:t>Team Members:</a:t>
            </a:r>
          </a:p>
          <a:p>
            <a:r>
              <a:rPr dirty="0"/>
              <a:t>K</a:t>
            </a:r>
            <a:r>
              <a:rPr lang="en-US" dirty="0"/>
              <a:t>amesh B</a:t>
            </a:r>
          </a:p>
          <a:p>
            <a:r>
              <a:rPr lang="en-US" dirty="0"/>
              <a:t>Kowshick M</a:t>
            </a:r>
            <a:r>
              <a:rPr dirty="0"/>
              <a:t> </a:t>
            </a:r>
            <a:endParaRPr lang="en-US" dirty="0"/>
          </a:p>
          <a:p>
            <a:r>
              <a:rPr dirty="0"/>
              <a:t>Sakthi K </a:t>
            </a:r>
            <a:endParaRPr lang="en-US" dirty="0"/>
          </a:p>
          <a:p>
            <a:r>
              <a:rPr dirty="0"/>
              <a:t> </a:t>
            </a:r>
            <a:r>
              <a:t>E Harihar</a:t>
            </a:r>
            <a:r>
              <a:rPr lang="en-US"/>
              <a:t>a</a:t>
            </a:r>
            <a:r>
              <a:t>n</a:t>
            </a:r>
            <a:endParaRPr dirty="0"/>
          </a:p>
        </p:txBody>
      </p:sp>
      <p:pic>
        <p:nvPicPr>
          <p:cNvPr id="1026" name="Picture 2">
            <a:extLst>
              <a:ext uri="{FF2B5EF4-FFF2-40B4-BE49-F238E27FC236}">
                <a16:creationId xmlns:a16="http://schemas.microsoft.com/office/drawing/2014/main" id="{06594919-5900-1CC1-EAA9-0FAEEE10CE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F6C970E9-FA4F-7F0D-CDCD-B025B123FECC}"/>
              </a:ext>
            </a:extLst>
          </p:cNvPr>
          <p:cNvSpPr txBox="1">
            <a:spLocks/>
          </p:cNvSpPr>
          <p:nvPr/>
        </p:nvSpPr>
        <p:spPr>
          <a:xfrm>
            <a:off x="-6974457" y="0"/>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5" name="Title 1">
            <a:extLst>
              <a:ext uri="{FF2B5EF4-FFF2-40B4-BE49-F238E27FC236}">
                <a16:creationId xmlns:a16="http://schemas.microsoft.com/office/drawing/2014/main" id="{1724FF5A-7018-E1BD-0267-C1982E9E687D}"/>
              </a:ext>
            </a:extLst>
          </p:cNvPr>
          <p:cNvSpPr txBox="1">
            <a:spLocks/>
          </p:cNvSpPr>
          <p:nvPr/>
        </p:nvSpPr>
        <p:spPr>
          <a:xfrm>
            <a:off x="-1164566" y="-1114783"/>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6" name="Title 1">
            <a:extLst>
              <a:ext uri="{FF2B5EF4-FFF2-40B4-BE49-F238E27FC236}">
                <a16:creationId xmlns:a16="http://schemas.microsoft.com/office/drawing/2014/main" id="{C6093144-23F5-B08F-1FEC-29A4CA220B6C}"/>
              </a:ext>
            </a:extLst>
          </p:cNvPr>
          <p:cNvSpPr txBox="1">
            <a:spLocks/>
          </p:cNvSpPr>
          <p:nvPr/>
        </p:nvSpPr>
        <p:spPr>
          <a:xfrm>
            <a:off x="-7643004" y="0"/>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7" name="Title 1">
            <a:extLst>
              <a:ext uri="{FF2B5EF4-FFF2-40B4-BE49-F238E27FC236}">
                <a16:creationId xmlns:a16="http://schemas.microsoft.com/office/drawing/2014/main" id="{E7515DAD-CD82-9754-936D-046C6EF83253}"/>
              </a:ext>
            </a:extLst>
          </p:cNvPr>
          <p:cNvSpPr txBox="1">
            <a:spLocks/>
          </p:cNvSpPr>
          <p:nvPr/>
        </p:nvSpPr>
        <p:spPr>
          <a:xfrm>
            <a:off x="7034841" y="-1470025"/>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8" name="Title 1">
            <a:extLst>
              <a:ext uri="{FF2B5EF4-FFF2-40B4-BE49-F238E27FC236}">
                <a16:creationId xmlns:a16="http://schemas.microsoft.com/office/drawing/2014/main" id="{50AEA5C8-C0A2-55F4-B737-BF591EA93981}"/>
              </a:ext>
            </a:extLst>
          </p:cNvPr>
          <p:cNvSpPr txBox="1">
            <a:spLocks/>
          </p:cNvSpPr>
          <p:nvPr/>
        </p:nvSpPr>
        <p:spPr>
          <a:xfrm>
            <a:off x="6366294" y="-1470025"/>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9" name="Title 1">
            <a:extLst>
              <a:ext uri="{FF2B5EF4-FFF2-40B4-BE49-F238E27FC236}">
                <a16:creationId xmlns:a16="http://schemas.microsoft.com/office/drawing/2014/main" id="{A7B3EC71-50EA-DDE3-D6F4-A9DAE4776907}"/>
              </a:ext>
            </a:extLst>
          </p:cNvPr>
          <p:cNvSpPr txBox="1">
            <a:spLocks/>
          </p:cNvSpPr>
          <p:nvPr/>
        </p:nvSpPr>
        <p:spPr>
          <a:xfrm>
            <a:off x="-1276710" y="-3117730"/>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10" name="Title 1">
            <a:extLst>
              <a:ext uri="{FF2B5EF4-FFF2-40B4-BE49-F238E27FC236}">
                <a16:creationId xmlns:a16="http://schemas.microsoft.com/office/drawing/2014/main" id="{A13C7334-14D8-2412-67B7-1167408D6FA1}"/>
              </a:ext>
            </a:extLst>
          </p:cNvPr>
          <p:cNvSpPr txBox="1">
            <a:spLocks/>
          </p:cNvSpPr>
          <p:nvPr/>
        </p:nvSpPr>
        <p:spPr>
          <a:xfrm>
            <a:off x="-241540" y="1236274"/>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11" name="Title 1">
            <a:extLst>
              <a:ext uri="{FF2B5EF4-FFF2-40B4-BE49-F238E27FC236}">
                <a16:creationId xmlns:a16="http://schemas.microsoft.com/office/drawing/2014/main" id="{7F51FA0D-2861-70AE-3773-4DAB7B200B83}"/>
              </a:ext>
            </a:extLst>
          </p:cNvPr>
          <p:cNvSpPr txBox="1">
            <a:spLocks/>
          </p:cNvSpPr>
          <p:nvPr/>
        </p:nvSpPr>
        <p:spPr>
          <a:xfrm>
            <a:off x="6793301" y="-1881456"/>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12" name="Title 1">
            <a:extLst>
              <a:ext uri="{FF2B5EF4-FFF2-40B4-BE49-F238E27FC236}">
                <a16:creationId xmlns:a16="http://schemas.microsoft.com/office/drawing/2014/main" id="{E0DDC1E4-77B1-7908-65B7-15127D834A18}"/>
              </a:ext>
            </a:extLst>
          </p:cNvPr>
          <p:cNvSpPr txBox="1">
            <a:spLocks/>
          </p:cNvSpPr>
          <p:nvPr/>
        </p:nvSpPr>
        <p:spPr>
          <a:xfrm>
            <a:off x="6124754" y="-1881456"/>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
        <p:nvSpPr>
          <p:cNvPr id="13" name="Title 1">
            <a:extLst>
              <a:ext uri="{FF2B5EF4-FFF2-40B4-BE49-F238E27FC236}">
                <a16:creationId xmlns:a16="http://schemas.microsoft.com/office/drawing/2014/main" id="{A26564B7-8162-841F-F496-4ADF3EEE164B}"/>
              </a:ext>
            </a:extLst>
          </p:cNvPr>
          <p:cNvSpPr txBox="1">
            <a:spLocks/>
          </p:cNvSpPr>
          <p:nvPr/>
        </p:nvSpPr>
        <p:spPr>
          <a:xfrm>
            <a:off x="-1518250" y="-3529161"/>
            <a:ext cx="7772400" cy="1470025"/>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noAutofit/>
          </a:bodyPr>
          <a:lstStyle/>
          <a:p>
            <a:r>
              <a:rPr sz="2400" dirty="0"/>
              <a:t>Agriculture plays a crucial role in the economy, and selecting the right crop for cultivation is essential for maximizing yield and profitability. Traditional crop selection methods rely on experience and intuition, which may not always be accurate.</a:t>
            </a:r>
          </a:p>
          <a:p>
            <a:endParaRPr sz="2400" dirty="0"/>
          </a:p>
          <a:p>
            <a:r>
              <a:rPr sz="2400" dirty="0"/>
              <a:t>This project proposes an AI-based Crop Recommendation System that utilizes machine learning to analyze soil parameters, weather conditions, and past crop data to suggest the most suitable crop for a given location. By integrating predictive analytics, the system aims to improve decision-making for farmers and agricultural stakeholders.</a:t>
            </a:r>
          </a:p>
        </p:txBody>
      </p:sp>
      <p:pic>
        <p:nvPicPr>
          <p:cNvPr id="4" name="Picture 2">
            <a:extLst>
              <a:ext uri="{FF2B5EF4-FFF2-40B4-BE49-F238E27FC236}">
                <a16:creationId xmlns:a16="http://schemas.microsoft.com/office/drawing/2014/main" id="{CEA857F5-0C5B-7F22-6EAE-A5C660D82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noAutofit/>
          </a:bodyPr>
          <a:lstStyle/>
          <a:p>
            <a:r>
              <a:rPr sz="2000" dirty="0"/>
              <a:t>The key objectives of the Crop Recommendation System are:</a:t>
            </a:r>
          </a:p>
          <a:p>
            <a:endParaRPr sz="2000" dirty="0"/>
          </a:p>
          <a:p>
            <a:r>
              <a:rPr sz="2000" dirty="0"/>
              <a:t>1. Enhance Agricultural Productivity: Improve yield by recommending the best crop based on scientific data rather than guesswork.</a:t>
            </a:r>
          </a:p>
          <a:p>
            <a:endParaRPr sz="2000" dirty="0"/>
          </a:p>
          <a:p>
            <a:r>
              <a:rPr sz="2000" dirty="0"/>
              <a:t>2. Data-Driven Crop Selection: Utilize soil properties (pH, nitrogen, phosphorus, potassium), weather data (rainfall, temperature, humidity), and historical data to make accurate predictions.</a:t>
            </a:r>
          </a:p>
          <a:p>
            <a:endParaRPr sz="2000" dirty="0"/>
          </a:p>
          <a:p>
            <a:r>
              <a:rPr sz="2000" dirty="0"/>
              <a:t>3. Reduce Farming Risks: Help farmers make informed decisions, reducing financial loss due to improper crop selection.</a:t>
            </a:r>
          </a:p>
          <a:p>
            <a:endParaRPr sz="2000" dirty="0"/>
          </a:p>
          <a:p>
            <a:r>
              <a:rPr sz="2000" dirty="0"/>
              <a:t>4. Sustainable Agriculture: Promote the use of crops that are best suited for a given environment, ensuring resource efficiency.</a:t>
            </a:r>
          </a:p>
        </p:txBody>
      </p:sp>
      <p:pic>
        <p:nvPicPr>
          <p:cNvPr id="4" name="Picture 2">
            <a:extLst>
              <a:ext uri="{FF2B5EF4-FFF2-40B4-BE49-F238E27FC236}">
                <a16:creationId xmlns:a16="http://schemas.microsoft.com/office/drawing/2014/main" id="{BCB94D78-59BD-B734-7710-60E0A5DF0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Autofit/>
          </a:bodyPr>
          <a:lstStyle/>
          <a:p>
            <a:r>
              <a:rPr sz="2000" dirty="0"/>
              <a:t>Agriculture is a backbone of many economies, and choosing the right crop is crucial for sustainable farming. Factors such as soil nutrients, climate, and rainfall significantly influence crop productivity.</a:t>
            </a:r>
          </a:p>
          <a:p>
            <a:endParaRPr sz="2000" dirty="0"/>
          </a:p>
          <a:p>
            <a:r>
              <a:rPr sz="2000" dirty="0"/>
              <a:t>Farmers often rely on traditional knowledge and experience for crop selection, which may not always be accurate due to unpredictable climate changes and soil degradation.</a:t>
            </a:r>
          </a:p>
          <a:p>
            <a:endParaRPr sz="2000" dirty="0"/>
          </a:p>
          <a:p>
            <a:r>
              <a:rPr sz="2000" dirty="0"/>
              <a:t>Our Crop Recommendation System aims to bridge this gap by leveraging machine learning algorithms to provide precise recommendations based on scientific analysis of soil and weather conditions.</a:t>
            </a:r>
          </a:p>
        </p:txBody>
      </p:sp>
      <p:pic>
        <p:nvPicPr>
          <p:cNvPr id="4" name="Picture 2">
            <a:extLst>
              <a:ext uri="{FF2B5EF4-FFF2-40B4-BE49-F238E27FC236}">
                <a16:creationId xmlns:a16="http://schemas.microsoft.com/office/drawing/2014/main" id="{49131C95-5293-8DB5-030A-179CF32A6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t>Literature Survey</a:t>
            </a:r>
          </a:p>
        </p:txBody>
      </p:sp>
      <p:graphicFrame>
        <p:nvGraphicFramePr>
          <p:cNvPr id="3" name="Table 2"/>
          <p:cNvGraphicFramePr>
            <a:graphicFrameLocks noGrp="1"/>
          </p:cNvGraphicFramePr>
          <p:nvPr/>
        </p:nvGraphicFramePr>
        <p:xfrm>
          <a:off x="457200" y="1371600"/>
          <a:ext cx="8229600" cy="53035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r>
                        <a:t>Paper Title</a:t>
                      </a:r>
                    </a:p>
                  </a:txBody>
                  <a:tcPr/>
                </a:tc>
                <a:tc>
                  <a:txBody>
                    <a:bodyPr/>
                    <a:lstStyle/>
                    <a:p>
                      <a:r>
                        <a:t>Author(s)</a:t>
                      </a:r>
                    </a:p>
                  </a:txBody>
                  <a:tcPr/>
                </a:tc>
                <a:tc>
                  <a:txBody>
                    <a:bodyPr/>
                    <a:lstStyle/>
                    <a:p>
                      <a:r>
                        <a:t>Year</a:t>
                      </a:r>
                    </a:p>
                  </a:txBody>
                  <a:tcPr/>
                </a:tc>
                <a:tc>
                  <a:txBody>
                    <a:bodyPr/>
                    <a:lstStyle/>
                    <a:p>
                      <a:r>
                        <a:t>Key Findings</a:t>
                      </a:r>
                    </a:p>
                  </a:txBody>
                  <a:tcPr/>
                </a:tc>
                <a:tc>
                  <a:txBody>
                    <a:bodyPr/>
                    <a:lstStyle/>
                    <a:p>
                      <a:r>
                        <a:t>Relevance</a:t>
                      </a:r>
                    </a:p>
                  </a:txBody>
                  <a:tcPr/>
                </a:tc>
                <a:extLst>
                  <a:ext uri="{0D108BD9-81ED-4DB2-BD59-A6C34878D82A}">
                    <a16:rowId xmlns:a16="http://schemas.microsoft.com/office/drawing/2014/main" val="10000"/>
                  </a:ext>
                </a:extLst>
              </a:tr>
              <a:tr h="457200">
                <a:tc>
                  <a:txBody>
                    <a:bodyPr/>
                    <a:lstStyle/>
                    <a:p>
                      <a:r>
                        <a:t>ML-Based Crop Recommendation</a:t>
                      </a:r>
                    </a:p>
                  </a:txBody>
                  <a:tcPr/>
                </a:tc>
                <a:tc>
                  <a:txBody>
                    <a:bodyPr/>
                    <a:lstStyle/>
                    <a:p>
                      <a:r>
                        <a:t>Smith et al.</a:t>
                      </a:r>
                    </a:p>
                  </a:txBody>
                  <a:tcPr/>
                </a:tc>
                <a:tc>
                  <a:txBody>
                    <a:bodyPr/>
                    <a:lstStyle/>
                    <a:p>
                      <a:r>
                        <a:t>2020</a:t>
                      </a:r>
                    </a:p>
                  </a:txBody>
                  <a:tcPr/>
                </a:tc>
                <a:tc>
                  <a:txBody>
                    <a:bodyPr/>
                    <a:lstStyle/>
                    <a:p>
                      <a:r>
                        <a:t>Proposed SVM model for crop prediction</a:t>
                      </a:r>
                    </a:p>
                  </a:txBody>
                  <a:tcPr/>
                </a:tc>
                <a:tc>
                  <a:txBody>
                    <a:bodyPr/>
                    <a:lstStyle/>
                    <a:p>
                      <a:r>
                        <a:t>Improved accuracy in recommendations</a:t>
                      </a:r>
                    </a:p>
                  </a:txBody>
                  <a:tcPr/>
                </a:tc>
                <a:extLst>
                  <a:ext uri="{0D108BD9-81ED-4DB2-BD59-A6C34878D82A}">
                    <a16:rowId xmlns:a16="http://schemas.microsoft.com/office/drawing/2014/main" val="10001"/>
                  </a:ext>
                </a:extLst>
              </a:tr>
              <a:tr h="457200">
                <a:tc>
                  <a:txBody>
                    <a:bodyPr/>
                    <a:lstStyle/>
                    <a:p>
                      <a:r>
                        <a:t>IoT in Smart Agriculture</a:t>
                      </a:r>
                    </a:p>
                  </a:txBody>
                  <a:tcPr/>
                </a:tc>
                <a:tc>
                  <a:txBody>
                    <a:bodyPr/>
                    <a:lstStyle/>
                    <a:p>
                      <a:r>
                        <a:t>Patel &amp; Kumar</a:t>
                      </a:r>
                    </a:p>
                  </a:txBody>
                  <a:tcPr/>
                </a:tc>
                <a:tc>
                  <a:txBody>
                    <a:bodyPr/>
                    <a:lstStyle/>
                    <a:p>
                      <a:r>
                        <a:t>2019</a:t>
                      </a:r>
                    </a:p>
                  </a:txBody>
                  <a:tcPr/>
                </a:tc>
                <a:tc>
                  <a:txBody>
                    <a:bodyPr/>
                    <a:lstStyle/>
                    <a:p>
                      <a:r>
                        <a:t>IoT sensors for real-time monitoring</a:t>
                      </a:r>
                    </a:p>
                  </a:txBody>
                  <a:tcPr/>
                </a:tc>
                <a:tc>
                  <a:txBody>
                    <a:bodyPr/>
                    <a:lstStyle/>
                    <a:p>
                      <a:r>
                        <a:t>Enhances data collection</a:t>
                      </a:r>
                    </a:p>
                  </a:txBody>
                  <a:tcPr/>
                </a:tc>
                <a:extLst>
                  <a:ext uri="{0D108BD9-81ED-4DB2-BD59-A6C34878D82A}">
                    <a16:rowId xmlns:a16="http://schemas.microsoft.com/office/drawing/2014/main" val="10002"/>
                  </a:ext>
                </a:extLst>
              </a:tr>
              <a:tr h="457200">
                <a:tc>
                  <a:txBody>
                    <a:bodyPr/>
                    <a:lstStyle/>
                    <a:p>
                      <a:r>
                        <a:t>AI in Precision Farming</a:t>
                      </a:r>
                    </a:p>
                  </a:txBody>
                  <a:tcPr/>
                </a:tc>
                <a:tc>
                  <a:txBody>
                    <a:bodyPr/>
                    <a:lstStyle/>
                    <a:p>
                      <a:r>
                        <a:t>Gupta et al.</a:t>
                      </a:r>
                    </a:p>
                  </a:txBody>
                  <a:tcPr/>
                </a:tc>
                <a:tc>
                  <a:txBody>
                    <a:bodyPr/>
                    <a:lstStyle/>
                    <a:p>
                      <a:r>
                        <a:t>2021</a:t>
                      </a:r>
                    </a:p>
                  </a:txBody>
                  <a:tcPr/>
                </a:tc>
                <a:tc>
                  <a:txBody>
                    <a:bodyPr/>
                    <a:lstStyle/>
                    <a:p>
                      <a:r>
                        <a:t>AI models for soil &amp; weather analysis</a:t>
                      </a:r>
                    </a:p>
                  </a:txBody>
                  <a:tcPr/>
                </a:tc>
                <a:tc>
                  <a:txBody>
                    <a:bodyPr/>
                    <a:lstStyle/>
                    <a:p>
                      <a:r>
                        <a:t>Supports decision-making</a:t>
                      </a:r>
                    </a:p>
                  </a:txBody>
                  <a:tcPr/>
                </a:tc>
                <a:extLst>
                  <a:ext uri="{0D108BD9-81ED-4DB2-BD59-A6C34878D82A}">
                    <a16:rowId xmlns:a16="http://schemas.microsoft.com/office/drawing/2014/main" val="10003"/>
                  </a:ext>
                </a:extLst>
              </a:tr>
              <a:tr h="457200">
                <a:tc>
                  <a:txBody>
                    <a:bodyPr/>
                    <a:lstStyle/>
                    <a:p>
                      <a:r>
                        <a:t>Big Data in Agriculture</a:t>
                      </a:r>
                    </a:p>
                  </a:txBody>
                  <a:tcPr/>
                </a:tc>
                <a:tc>
                  <a:txBody>
                    <a:bodyPr/>
                    <a:lstStyle/>
                    <a:p>
                      <a:r>
                        <a:t>Wang &amp; Lee</a:t>
                      </a:r>
                    </a:p>
                  </a:txBody>
                  <a:tcPr/>
                </a:tc>
                <a:tc>
                  <a:txBody>
                    <a:bodyPr/>
                    <a:lstStyle/>
                    <a:p>
                      <a:r>
                        <a:t>2022</a:t>
                      </a:r>
                    </a:p>
                  </a:txBody>
                  <a:tcPr/>
                </a:tc>
                <a:tc>
                  <a:txBody>
                    <a:bodyPr/>
                    <a:lstStyle/>
                    <a:p>
                      <a:r>
                        <a:t>Big Data techniques for yield prediction</a:t>
                      </a:r>
                    </a:p>
                  </a:txBody>
                  <a:tcPr/>
                </a:tc>
                <a:tc>
                  <a:txBody>
                    <a:bodyPr/>
                    <a:lstStyle/>
                    <a:p>
                      <a:r>
                        <a:t>Useful for large-scale farming</a:t>
                      </a:r>
                    </a:p>
                  </a:txBody>
                  <a:tcPr/>
                </a:tc>
                <a:extLst>
                  <a:ext uri="{0D108BD9-81ED-4DB2-BD59-A6C34878D82A}">
                    <a16:rowId xmlns:a16="http://schemas.microsoft.com/office/drawing/2014/main" val="10004"/>
                  </a:ext>
                </a:extLst>
              </a:tr>
              <a:tr h="457200">
                <a:tc>
                  <a:txBody>
                    <a:bodyPr/>
                    <a:lstStyle/>
                    <a:p>
                      <a:r>
                        <a:t>Deep Learning for Crop Yield</a:t>
                      </a:r>
                    </a:p>
                  </a:txBody>
                  <a:tcPr/>
                </a:tc>
                <a:tc>
                  <a:txBody>
                    <a:bodyPr/>
                    <a:lstStyle/>
                    <a:p>
                      <a:r>
                        <a:t>Zhang et al.</a:t>
                      </a:r>
                    </a:p>
                  </a:txBody>
                  <a:tcPr/>
                </a:tc>
                <a:tc>
                  <a:txBody>
                    <a:bodyPr/>
                    <a:lstStyle/>
                    <a:p>
                      <a:r>
                        <a:t>2023</a:t>
                      </a:r>
                    </a:p>
                  </a:txBody>
                  <a:tcPr/>
                </a:tc>
                <a:tc>
                  <a:txBody>
                    <a:bodyPr/>
                    <a:lstStyle/>
                    <a:p>
                      <a:r>
                        <a:t>CNN model for high accuracy predictions</a:t>
                      </a:r>
                    </a:p>
                  </a:txBody>
                  <a:tcPr/>
                </a:tc>
                <a:tc>
                  <a:txBody>
                    <a:bodyPr/>
                    <a:lstStyle/>
                    <a:p>
                      <a:r>
                        <a:t>Advanced methodology</a:t>
                      </a:r>
                    </a:p>
                  </a:txBody>
                  <a:tcPr/>
                </a:tc>
                <a:extLst>
                  <a:ext uri="{0D108BD9-81ED-4DB2-BD59-A6C34878D82A}">
                    <a16:rowId xmlns:a16="http://schemas.microsoft.com/office/drawing/2014/main" val="10005"/>
                  </a:ext>
                </a:extLst>
              </a:tr>
            </a:tbl>
          </a:graphicData>
        </a:graphic>
      </p:graphicFrame>
      <p:pic>
        <p:nvPicPr>
          <p:cNvPr id="4" name="Picture 2">
            <a:extLst>
              <a:ext uri="{FF2B5EF4-FFF2-40B4-BE49-F238E27FC236}">
                <a16:creationId xmlns:a16="http://schemas.microsoft.com/office/drawing/2014/main" id="{D81A147D-F6D3-4A61-BC4A-BA7D2CB24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16A46-92D2-DC79-1BD0-7F631E6F03FF}"/>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EXISTING MODEL</a:t>
            </a:r>
            <a:endParaRPr lang="en-IN" dirty="0"/>
          </a:p>
        </p:txBody>
      </p:sp>
      <p:sp>
        <p:nvSpPr>
          <p:cNvPr id="3" name="TextBox 2">
            <a:extLst>
              <a:ext uri="{FF2B5EF4-FFF2-40B4-BE49-F238E27FC236}">
                <a16:creationId xmlns:a16="http://schemas.microsoft.com/office/drawing/2014/main" id="{9C828770-0E85-28DF-19DC-4FB69A2FFF91}"/>
              </a:ext>
            </a:extLst>
          </p:cNvPr>
          <p:cNvSpPr txBox="1"/>
          <p:nvPr/>
        </p:nvSpPr>
        <p:spPr>
          <a:xfrm>
            <a:off x="297951" y="1715784"/>
            <a:ext cx="8388849" cy="4161034"/>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CC9D2724-CE7B-9CB8-EFA8-FC30D832EE74}"/>
              </a:ext>
            </a:extLst>
          </p:cNvPr>
          <p:cNvSpPr txBox="1"/>
          <p:nvPr/>
        </p:nvSpPr>
        <p:spPr>
          <a:xfrm>
            <a:off x="297951" y="1715783"/>
            <a:ext cx="8733033" cy="4247317"/>
          </a:xfrm>
          <a:prstGeom prst="rect">
            <a:avLst/>
          </a:prstGeom>
          <a:noFill/>
        </p:spPr>
        <p:txBody>
          <a:bodyPr wrap="square" rtlCol="0">
            <a:spAutoFit/>
          </a:bodyPr>
          <a:lstStyle/>
          <a:p>
            <a:pPr>
              <a:buNone/>
            </a:pPr>
            <a:r>
              <a:rPr lang="en-US" sz="2400" b="1" dirty="0"/>
              <a:t>1. Krishi Vigyan Kendra (KVK) Portals</a:t>
            </a:r>
            <a:endParaRPr lang="en-US" sz="2400" dirty="0"/>
          </a:p>
          <a:p>
            <a:pPr>
              <a:buFont typeface="Arial" panose="020B0604020202020204" pitchFamily="34" charset="0"/>
              <a:buChar char="•"/>
            </a:pPr>
            <a:r>
              <a:rPr lang="en-US" sz="2400" dirty="0"/>
              <a:t>Government-supported, provides static crop advice based on region</a:t>
            </a:r>
          </a:p>
          <a:p>
            <a:pPr>
              <a:buFont typeface="Arial" panose="020B0604020202020204" pitchFamily="34" charset="0"/>
              <a:buChar char="•"/>
            </a:pPr>
            <a:endParaRPr lang="en-US" sz="2400" dirty="0"/>
          </a:p>
          <a:p>
            <a:pPr>
              <a:buNone/>
            </a:pPr>
            <a:r>
              <a:rPr lang="en-US" sz="2400" dirty="0"/>
              <a:t>2.</a:t>
            </a:r>
            <a:r>
              <a:rPr lang="en-US" sz="2400" b="1" dirty="0"/>
              <a:t> Crop Advisor App (ICRISAT)</a:t>
            </a:r>
            <a:endParaRPr lang="en-US" sz="2400" dirty="0"/>
          </a:p>
          <a:p>
            <a:pPr>
              <a:buFont typeface="Arial" panose="020B0604020202020204" pitchFamily="34" charset="0"/>
              <a:buChar char="•"/>
            </a:pPr>
            <a:r>
              <a:rPr lang="en-US" sz="2400" dirty="0"/>
              <a:t>Mobile app for farmers, suggests crops using soil test results</a:t>
            </a:r>
          </a:p>
          <a:p>
            <a:pPr>
              <a:buFont typeface="Arial" panose="020B0604020202020204" pitchFamily="34" charset="0"/>
              <a:buChar char="•"/>
            </a:pPr>
            <a:endParaRPr lang="en-US" sz="2400" dirty="0"/>
          </a:p>
          <a:p>
            <a:pPr>
              <a:buNone/>
            </a:pPr>
            <a:r>
              <a:rPr lang="en-US" sz="2400" b="1" dirty="0"/>
              <a:t>3.Rashtriya Krishi Vikas Yojana (RKVY) Tools</a:t>
            </a:r>
            <a:endParaRPr lang="en-US" sz="2400" dirty="0"/>
          </a:p>
          <a:p>
            <a:pPr>
              <a:buFont typeface="Arial" panose="020B0604020202020204" pitchFamily="34" charset="0"/>
              <a:buChar char="•"/>
            </a:pPr>
            <a:r>
              <a:rPr lang="en-US" sz="2400" dirty="0"/>
              <a:t>Offers limited recommendation tools through agriculture departments</a:t>
            </a:r>
          </a:p>
          <a:p>
            <a:endParaRPr lang="en-US" dirty="0"/>
          </a:p>
          <a:p>
            <a:endParaRPr lang="en-US" dirty="0"/>
          </a:p>
          <a:p>
            <a:endParaRPr lang="en-IN" dirty="0"/>
          </a:p>
        </p:txBody>
      </p:sp>
    </p:spTree>
    <p:extLst>
      <p:ext uri="{BB962C8B-B14F-4D97-AF65-F5344CB8AC3E}">
        <p14:creationId xmlns:p14="http://schemas.microsoft.com/office/powerpoint/2010/main" val="179713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F138-B3F4-362F-8A65-C43A811A7448}"/>
              </a:ext>
            </a:extLst>
          </p:cNvPr>
          <p:cNvSpPr>
            <a:spLocks noGrp="1"/>
          </p:cNvSpPr>
          <p:nvPr>
            <p:ph type="title"/>
          </p:nvPr>
        </p:nvSpPr>
        <p:spPr/>
        <p:txBody>
          <a:bodyPr/>
          <a:lstStyle/>
          <a:p>
            <a:r>
              <a:rPr lang="en-IN" dirty="0"/>
              <a:t>PROPOSED MODEL</a:t>
            </a:r>
          </a:p>
        </p:txBody>
      </p:sp>
      <p:sp>
        <p:nvSpPr>
          <p:cNvPr id="3" name="Content Placeholder 2">
            <a:extLst>
              <a:ext uri="{FF2B5EF4-FFF2-40B4-BE49-F238E27FC236}">
                <a16:creationId xmlns:a16="http://schemas.microsoft.com/office/drawing/2014/main" id="{2BE1383E-84BB-6E3D-1DEA-26A1805E4BFD}"/>
              </a:ext>
            </a:extLst>
          </p:cNvPr>
          <p:cNvSpPr>
            <a:spLocks noGrp="1"/>
          </p:cNvSpPr>
          <p:nvPr>
            <p:ph idx="1"/>
          </p:nvPr>
        </p:nvSpPr>
        <p:spPr>
          <a:xfrm>
            <a:off x="457200" y="1600201"/>
            <a:ext cx="8229600" cy="2961526"/>
          </a:xfrm>
        </p:spPr>
        <p:txBody>
          <a:bodyPr>
            <a:normAutofit fontScale="40000" lnSpcReduction="20000"/>
          </a:bodyPr>
          <a:lstStyle/>
          <a:p>
            <a:endParaRPr lang="en-IN" sz="13500" dirty="0"/>
          </a:p>
          <a:p>
            <a:pPr marL="0" indent="0">
              <a:buNone/>
            </a:pPr>
            <a:r>
              <a:rPr lang="en-IN" sz="4500" dirty="0"/>
              <a:t>1. Web Application</a:t>
            </a:r>
          </a:p>
          <a:p>
            <a:pPr marL="0" indent="0">
              <a:buNone/>
            </a:pPr>
            <a:r>
              <a:rPr lang="en-IN" sz="4500" dirty="0"/>
              <a:t>   • Flask-based UI for user input and result display </a:t>
            </a:r>
          </a:p>
          <a:p>
            <a:pPr marL="0" indent="0">
              <a:buNone/>
            </a:pPr>
            <a:endParaRPr lang="en-IN" sz="4000" dirty="0"/>
          </a:p>
          <a:p>
            <a:pPr marL="0" indent="0">
              <a:buNone/>
            </a:pPr>
            <a:r>
              <a:rPr lang="en-IN" sz="4000" dirty="0"/>
              <a:t>2. Machine Learning  Induced  </a:t>
            </a:r>
            <a:r>
              <a:rPr lang="en-US" sz="4000" dirty="0"/>
              <a:t>Algorithm </a:t>
            </a:r>
            <a:endParaRPr lang="en-IN" sz="4000" dirty="0"/>
          </a:p>
          <a:p>
            <a:pPr marL="0" indent="0">
              <a:buNone/>
            </a:pPr>
            <a:r>
              <a:rPr lang="en-IN" sz="4000" dirty="0"/>
              <a:t> • Model: Random Forest Classifier</a:t>
            </a:r>
          </a:p>
          <a:p>
            <a:pPr marL="0" indent="0">
              <a:buNone/>
            </a:pPr>
            <a:r>
              <a:rPr lang="en-IN" sz="4000" dirty="0"/>
              <a:t>• Trained on </a:t>
            </a:r>
            <a:r>
              <a:rPr lang="en-IN" sz="4000" dirty="0" err="1"/>
              <a:t>labeled</a:t>
            </a:r>
            <a:r>
              <a:rPr lang="en-IN" sz="4000" dirty="0"/>
              <a:t> crop dataset</a:t>
            </a:r>
          </a:p>
          <a:p>
            <a:pPr marL="0" indent="0">
              <a:buNone/>
            </a:pPr>
            <a:r>
              <a:rPr lang="en-IN" sz="4000" dirty="0"/>
              <a:t>• Output: Best crop recommendation</a:t>
            </a:r>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r>
              <a:rPr lang="en-IN" sz="1300" dirty="0"/>
              <a:t> </a:t>
            </a:r>
          </a:p>
          <a:p>
            <a:pPr marL="0" indent="0">
              <a:buNone/>
            </a:pPr>
            <a:endParaRPr lang="en-IN" sz="1300" dirty="0"/>
          </a:p>
          <a:p>
            <a:endParaRPr lang="en-IN" dirty="0"/>
          </a:p>
        </p:txBody>
      </p:sp>
    </p:spTree>
    <p:extLst>
      <p:ext uri="{BB962C8B-B14F-4D97-AF65-F5344CB8AC3E}">
        <p14:creationId xmlns:p14="http://schemas.microsoft.com/office/powerpoint/2010/main" val="3381521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C62E4-8980-50CF-BCAE-891F47C99D43}"/>
              </a:ext>
            </a:extLst>
          </p:cNvPr>
          <p:cNvSpPr>
            <a:spLocks noGrp="1"/>
          </p:cNvSpPr>
          <p:nvPr>
            <p:ph type="title"/>
          </p:nvPr>
        </p:nvSpPr>
        <p:spPr/>
        <p:txBody>
          <a:bodyPr>
            <a:normAutofit fontScale="90000"/>
          </a:bodyPr>
          <a:lstStyle/>
          <a:p>
            <a:r>
              <a:rPr lang="en-IN" b="1" dirty="0"/>
              <a:t>Project Components</a:t>
            </a:r>
            <a:br>
              <a:rPr lang="en-IN" b="1" dirty="0"/>
            </a:br>
            <a:endParaRPr lang="en-IN" dirty="0"/>
          </a:p>
        </p:txBody>
      </p:sp>
      <p:sp>
        <p:nvSpPr>
          <p:cNvPr id="4" name="Rectangle 1">
            <a:extLst>
              <a:ext uri="{FF2B5EF4-FFF2-40B4-BE49-F238E27FC236}">
                <a16:creationId xmlns:a16="http://schemas.microsoft.com/office/drawing/2014/main" id="{6BACEC83-01F7-53A4-FFA3-B0CC2E52142E}"/>
              </a:ext>
            </a:extLst>
          </p:cNvPr>
          <p:cNvSpPr>
            <a:spLocks noGrp="1" noChangeArrowheads="1"/>
          </p:cNvSpPr>
          <p:nvPr>
            <p:ph idx="1"/>
          </p:nvPr>
        </p:nvSpPr>
        <p:spPr bwMode="auto">
          <a:xfrm>
            <a:off x="750014" y="1357555"/>
            <a:ext cx="848645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Programming language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Flask</a:t>
            </a:r>
            <a:r>
              <a:rPr kumimoji="0" lang="en-US" altLang="en-US" sz="1800" b="0" i="0" u="none" strike="noStrike" cap="none" normalizeH="0" baseline="0" dirty="0">
                <a:ln>
                  <a:noFill/>
                </a:ln>
                <a:solidFill>
                  <a:schemeClr val="tx1"/>
                </a:solidFill>
                <a:effectLst/>
                <a:latin typeface="Arial" panose="020B0604020202020204" pitchFamily="34" charset="0"/>
              </a:rPr>
              <a:t> – Web framework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scikit-learn</a:t>
            </a:r>
            <a:r>
              <a:rPr kumimoji="0" lang="en-US" altLang="en-US" sz="1800" b="0" i="0" u="none" strike="noStrike" cap="none" normalizeH="0" baseline="0" dirty="0">
                <a:ln>
                  <a:noFill/>
                </a:ln>
                <a:solidFill>
                  <a:schemeClr val="tx1"/>
                </a:solidFill>
                <a:effectLst/>
                <a:latin typeface="Arial" panose="020B0604020202020204" pitchFamily="34" charset="0"/>
              </a:rPr>
              <a:t> – ML model training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NumPy &amp; Pandas</a:t>
            </a:r>
            <a:r>
              <a:rPr kumimoji="0" lang="en-US" altLang="en-US" sz="1800" b="0" i="0" u="none" strike="noStrike" cap="none" normalizeH="0" baseline="0" dirty="0">
                <a:ln>
                  <a:noFill/>
                </a:ln>
                <a:solidFill>
                  <a:schemeClr val="tx1"/>
                </a:solidFill>
                <a:effectLst/>
                <a:latin typeface="Arial" panose="020B0604020202020204" pitchFamily="34" charset="0"/>
              </a:rPr>
              <a:t> – Data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Pickle</a:t>
            </a:r>
            <a:r>
              <a:rPr kumimoji="0" lang="en-US" altLang="en-US" sz="1800" b="0" i="0" u="none" strike="noStrike" cap="none" normalizeH="0" baseline="0" dirty="0">
                <a:ln>
                  <a:noFill/>
                </a:ln>
                <a:solidFill>
                  <a:schemeClr val="tx1"/>
                </a:solidFill>
                <a:effectLst/>
                <a:latin typeface="Arial" panose="020B0604020202020204" pitchFamily="34" charset="0"/>
              </a:rPr>
              <a:t> – Load/save model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HTML/CSS</a:t>
            </a:r>
            <a:r>
              <a:rPr kumimoji="0" lang="en-US" altLang="en-US" sz="1800" b="0" i="0" u="none" strike="noStrike" cap="none" normalizeH="0" baseline="0" dirty="0">
                <a:ln>
                  <a:noFill/>
                </a:ln>
                <a:solidFill>
                  <a:schemeClr val="tx1"/>
                </a:solidFill>
                <a:effectLst/>
                <a:latin typeface="Arial" panose="020B0604020202020204" pitchFamily="34" charset="0"/>
              </a:rPr>
              <a:t> – Web interface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MinMaxScaler</a:t>
            </a:r>
            <a:r>
              <a:rPr kumimoji="0" lang="en-US" altLang="en-US" sz="1800" b="1" i="0" u="none" strike="noStrike" cap="none" normalizeH="0" baseline="0" dirty="0">
                <a:ln>
                  <a:noFill/>
                </a:ln>
                <a:solidFill>
                  <a:schemeClr val="tx1"/>
                </a:solidFill>
                <a:effectLst/>
                <a:latin typeface="Arial" panose="020B0604020202020204" pitchFamily="34" charset="0"/>
              </a:rPr>
              <a:t> &amp; </a:t>
            </a:r>
            <a:r>
              <a:rPr kumimoji="0" lang="en-US" altLang="en-US" sz="1800" b="1" i="0" u="none" strike="noStrike" cap="none" normalizeH="0" baseline="0" dirty="0" err="1">
                <a:ln>
                  <a:noFill/>
                </a:ln>
                <a:solidFill>
                  <a:schemeClr val="tx1"/>
                </a:solidFill>
                <a:effectLst/>
                <a:latin typeface="Arial" panose="020B0604020202020204" pitchFamily="34" charset="0"/>
              </a:rPr>
              <a:t>StandardScaler</a:t>
            </a:r>
            <a:r>
              <a:rPr kumimoji="0" lang="en-US" altLang="en-US" sz="1800" b="0" i="0" u="none" strike="noStrike" cap="none" normalizeH="0" baseline="0" dirty="0">
                <a:ln>
                  <a:noFill/>
                </a:ln>
                <a:solidFill>
                  <a:schemeClr val="tx1"/>
                </a:solidFill>
                <a:effectLst/>
                <a:latin typeface="Arial" panose="020B0604020202020204" pitchFamily="34" charset="0"/>
              </a:rPr>
              <a:t> – Data preprocessing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Dataset</a:t>
            </a:r>
            <a:r>
              <a:rPr kumimoji="0" lang="en-US" altLang="en-US" sz="1800" b="0" i="0" u="none" strike="noStrike" cap="none" normalizeH="0" baseline="0" dirty="0">
                <a:ln>
                  <a:noFill/>
                </a:ln>
                <a:solidFill>
                  <a:schemeClr val="tx1"/>
                </a:solidFill>
                <a:effectLst/>
                <a:latin typeface="Arial" panose="020B0604020202020204" pitchFamily="34" charset="0"/>
              </a:rPr>
              <a:t> – Training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model.pkl</a:t>
            </a:r>
            <a:r>
              <a:rPr kumimoji="0" lang="en-US" altLang="en-US" sz="1800" b="0" i="0" u="none" strike="noStrike" cap="none" normalizeH="0" baseline="0" dirty="0">
                <a:ln>
                  <a:noFill/>
                </a:ln>
                <a:solidFill>
                  <a:schemeClr val="tx1"/>
                </a:solidFill>
                <a:effectLst/>
                <a:latin typeface="Arial" panose="020B0604020202020204" pitchFamily="34" charset="0"/>
              </a:rPr>
              <a:t> – Trained ML model</a:t>
            </a:r>
          </a:p>
        </p:txBody>
      </p:sp>
    </p:spTree>
    <p:extLst>
      <p:ext uri="{BB962C8B-B14F-4D97-AF65-F5344CB8AC3E}">
        <p14:creationId xmlns:p14="http://schemas.microsoft.com/office/powerpoint/2010/main" val="169412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A6E5-D9C6-D035-D1EF-2B47AFA142F1}"/>
              </a:ext>
            </a:extLst>
          </p:cNvPr>
          <p:cNvSpPr>
            <a:spLocks noGrp="1"/>
          </p:cNvSpPr>
          <p:nvPr>
            <p:ph type="title"/>
          </p:nvPr>
        </p:nvSpPr>
        <p:spPr/>
        <p:txBody>
          <a:bodyPr/>
          <a:lstStyle/>
          <a:p>
            <a:r>
              <a:rPr lang="en-IN" b="1" dirty="0"/>
              <a:t>Problem Statement</a:t>
            </a:r>
            <a:endParaRPr lang="en-IN" dirty="0"/>
          </a:p>
        </p:txBody>
      </p:sp>
      <p:sp>
        <p:nvSpPr>
          <p:cNvPr id="3" name="Content Placeholder 2">
            <a:extLst>
              <a:ext uri="{FF2B5EF4-FFF2-40B4-BE49-F238E27FC236}">
                <a16:creationId xmlns:a16="http://schemas.microsoft.com/office/drawing/2014/main" id="{47136213-FDED-2A5B-E1CD-A50C56D961EC}"/>
              </a:ext>
            </a:extLst>
          </p:cNvPr>
          <p:cNvSpPr>
            <a:spLocks noGrp="1"/>
          </p:cNvSpPr>
          <p:nvPr>
            <p:ph idx="1"/>
          </p:nvPr>
        </p:nvSpPr>
        <p:spPr/>
        <p:txBody>
          <a:bodyPr>
            <a:normAutofit/>
          </a:bodyPr>
          <a:lstStyle/>
          <a:p>
            <a:pPr>
              <a:buNone/>
            </a:pPr>
            <a:r>
              <a:rPr lang="en-US" sz="2200" dirty="0"/>
              <a:t>In agriculture, selecting the right crop for cultivation is critical for maximizing yield and ensuring sustainable farming. However, many farmers rely on traditional knowledge or guesswork, which may not align with current soil and climate conditions. With changing environmental factors and limited access to expert advice, incorrect crop choices can lead to poor productivity, soil degradation, and economic loss.</a:t>
            </a:r>
          </a:p>
          <a:p>
            <a:r>
              <a:rPr lang="en-US" sz="2200" dirty="0"/>
              <a:t>There is a need for a </a:t>
            </a:r>
            <a:r>
              <a:rPr lang="en-US" sz="2200" b="1" dirty="0"/>
              <a:t>smart, data-driven system</a:t>
            </a:r>
            <a:r>
              <a:rPr lang="en-US" sz="2200" dirty="0"/>
              <a:t> that analyzes soil nutrients and environmental conditions to </a:t>
            </a:r>
            <a:r>
              <a:rPr lang="en-US" sz="2200" b="1" dirty="0"/>
              <a:t>recommend the most suitable crop</a:t>
            </a:r>
            <a:r>
              <a:rPr lang="en-US" sz="2200" dirty="0"/>
              <a:t> for a given region, helping farmers make informed decisions and improve agricultural outcomes.</a:t>
            </a:r>
          </a:p>
          <a:p>
            <a:endParaRPr lang="en-IN" dirty="0"/>
          </a:p>
        </p:txBody>
      </p:sp>
    </p:spTree>
    <p:extLst>
      <p:ext uri="{BB962C8B-B14F-4D97-AF65-F5344CB8AC3E}">
        <p14:creationId xmlns:p14="http://schemas.microsoft.com/office/powerpoint/2010/main" val="15887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209A-AE0D-27EF-36CA-4C7AF4E52822}"/>
              </a:ext>
            </a:extLst>
          </p:cNvPr>
          <p:cNvSpPr>
            <a:spLocks noGrp="1"/>
          </p:cNvSpPr>
          <p:nvPr>
            <p:ph type="title"/>
          </p:nvPr>
        </p:nvSpPr>
        <p:spPr/>
        <p:txBody>
          <a:bodyPr/>
          <a:lstStyle/>
          <a:p>
            <a:r>
              <a:rPr lang="en-IN" b="1" dirty="0" err="1"/>
              <a:t>Algorithm’S</a:t>
            </a:r>
            <a:endParaRPr lang="en-IN" dirty="0"/>
          </a:p>
        </p:txBody>
      </p:sp>
      <p:sp>
        <p:nvSpPr>
          <p:cNvPr id="6" name="Rectangle 3">
            <a:extLst>
              <a:ext uri="{FF2B5EF4-FFF2-40B4-BE49-F238E27FC236}">
                <a16:creationId xmlns:a16="http://schemas.microsoft.com/office/drawing/2014/main" id="{8066ED55-7ACF-1544-F78A-2B935CB78430}"/>
              </a:ext>
            </a:extLst>
          </p:cNvPr>
          <p:cNvSpPr>
            <a:spLocks noGrp="1" noChangeArrowheads="1"/>
          </p:cNvSpPr>
          <p:nvPr>
            <p:ph idx="1"/>
          </p:nvPr>
        </p:nvSpPr>
        <p:spPr bwMode="auto">
          <a:xfrm>
            <a:off x="82193" y="1832312"/>
            <a:ext cx="8686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Linear Regression</a:t>
            </a:r>
            <a:r>
              <a:rPr kumimoji="0" lang="en-US" altLang="en-US" sz="1800" b="0" i="0" u="none" strike="noStrike" cap="none" normalizeH="0" baseline="0" dirty="0">
                <a:ln>
                  <a:noFill/>
                </a:ln>
                <a:solidFill>
                  <a:schemeClr val="tx1"/>
                </a:solidFill>
                <a:effectLst/>
                <a:latin typeface="Arial" panose="020B0604020202020204" pitchFamily="34" charset="0"/>
              </a:rPr>
              <a:t>: Predicts crop yield based on factors like weather and soil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Decision Trees</a:t>
            </a:r>
            <a:r>
              <a:rPr kumimoji="0" lang="en-US" altLang="en-US" sz="1800" b="0" i="0" u="none" strike="noStrike" cap="none" normalizeH="0" baseline="0" dirty="0">
                <a:ln>
                  <a:noFill/>
                </a:ln>
                <a:solidFill>
                  <a:schemeClr val="tx1"/>
                </a:solidFill>
                <a:effectLst/>
                <a:latin typeface="Arial" panose="020B0604020202020204" pitchFamily="34" charset="0"/>
              </a:rPr>
              <a:t>: Classifies crops based on environmental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Random Forest</a:t>
            </a:r>
            <a:r>
              <a:rPr kumimoji="0" lang="en-US" altLang="en-US" sz="1800" b="0" i="0" u="none" strike="noStrike" cap="none" normalizeH="0" baseline="0" dirty="0">
                <a:ln>
                  <a:noFill/>
                </a:ln>
                <a:solidFill>
                  <a:schemeClr val="tx1"/>
                </a:solidFill>
                <a:effectLst/>
                <a:latin typeface="Arial" panose="020B0604020202020204" pitchFamily="34" charset="0"/>
              </a:rPr>
              <a:t>: Enhances decision trees by combining multiple trees for better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K-Nearest Neighbors (KNN)</a:t>
            </a:r>
            <a:r>
              <a:rPr kumimoji="0" lang="en-US" altLang="en-US" sz="1800" b="0" i="0" u="none" strike="noStrike" cap="none" normalizeH="0" baseline="0" dirty="0">
                <a:ln>
                  <a:noFill/>
                </a:ln>
                <a:solidFill>
                  <a:schemeClr val="tx1"/>
                </a:solidFill>
                <a:effectLst/>
                <a:latin typeface="Arial" panose="020B0604020202020204" pitchFamily="34" charset="0"/>
              </a:rPr>
              <a:t>: Classifies crops based on similarity to nearby data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Support Vector Machines (SVM)</a:t>
            </a:r>
            <a:r>
              <a:rPr kumimoji="0" lang="en-US" altLang="en-US" sz="1800" b="0" i="0" u="none" strike="noStrike" cap="none" normalizeH="0" baseline="0" dirty="0">
                <a:ln>
                  <a:noFill/>
                </a:ln>
                <a:solidFill>
                  <a:schemeClr val="tx1"/>
                </a:solidFill>
                <a:effectLst/>
                <a:latin typeface="Arial" panose="020B0604020202020204" pitchFamily="34" charset="0"/>
              </a:rPr>
              <a:t>: Classifies crop diseases based on features like leaf texture.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Neural Networks (ANN)</a:t>
            </a:r>
            <a:r>
              <a:rPr kumimoji="0" lang="en-US" altLang="en-US" sz="1800" b="0" i="0" u="none" strike="noStrike" cap="none" normalizeH="0" baseline="0" dirty="0">
                <a:ln>
                  <a:noFill/>
                </a:ln>
                <a:solidFill>
                  <a:schemeClr val="tx1"/>
                </a:solidFill>
                <a:effectLst/>
                <a:latin typeface="Arial" panose="020B0604020202020204" pitchFamily="34" charset="0"/>
              </a:rPr>
              <a:t>: Handles complex crop prediction models with multiple influencing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Clustering Algorithms (K-means)</a:t>
            </a:r>
            <a:r>
              <a:rPr kumimoji="0" lang="en-US" altLang="en-US" sz="1800" b="0" i="0" u="none" strike="noStrike" cap="none" normalizeH="0" baseline="0" dirty="0">
                <a:ln>
                  <a:noFill/>
                </a:ln>
                <a:solidFill>
                  <a:schemeClr val="tx1"/>
                </a:solidFill>
                <a:effectLst/>
                <a:latin typeface="Arial" panose="020B0604020202020204" pitchFamily="34" charset="0"/>
              </a:rPr>
              <a:t>: Groups crops based on similar conditions for optimized growth.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Time Series (ARIMA, LSTM)</a:t>
            </a:r>
            <a:r>
              <a:rPr kumimoji="0" lang="en-US" altLang="en-US" sz="1800" b="0" i="0" u="none" strike="noStrike" cap="none" normalizeH="0" baseline="0" dirty="0">
                <a:ln>
                  <a:noFill/>
                </a:ln>
                <a:solidFill>
                  <a:schemeClr val="tx1"/>
                </a:solidFill>
                <a:effectLst/>
                <a:latin typeface="Arial" panose="020B0604020202020204" pitchFamily="34" charset="0"/>
              </a:rPr>
              <a:t>: Predicts future crop yields over time based on historical data.</a:t>
            </a:r>
          </a:p>
        </p:txBody>
      </p:sp>
    </p:spTree>
    <p:extLst>
      <p:ext uri="{BB962C8B-B14F-4D97-AF65-F5344CB8AC3E}">
        <p14:creationId xmlns:p14="http://schemas.microsoft.com/office/powerpoint/2010/main" val="88157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26F0-796B-16A5-5A6A-222BF6450016}"/>
              </a:ext>
            </a:extLst>
          </p:cNvPr>
          <p:cNvSpPr>
            <a:spLocks noGrp="1"/>
          </p:cNvSpPr>
          <p:nvPr>
            <p:ph type="title"/>
          </p:nvPr>
        </p:nvSpPr>
        <p:spPr/>
        <p:txBody>
          <a:bodyPr/>
          <a:lstStyle/>
          <a:p>
            <a:r>
              <a:rPr lang="en-IN" dirty="0"/>
              <a:t>Model Accuracy &amp; Performance</a:t>
            </a:r>
          </a:p>
        </p:txBody>
      </p:sp>
      <p:sp>
        <p:nvSpPr>
          <p:cNvPr id="4" name="Rectangle 1">
            <a:extLst>
              <a:ext uri="{FF2B5EF4-FFF2-40B4-BE49-F238E27FC236}">
                <a16:creationId xmlns:a16="http://schemas.microsoft.com/office/drawing/2014/main" id="{FD96CF41-75F5-7C1B-8860-A51D5E43C990}"/>
              </a:ext>
            </a:extLst>
          </p:cNvPr>
          <p:cNvSpPr>
            <a:spLocks noGrp="1" noChangeArrowheads="1"/>
          </p:cNvSpPr>
          <p:nvPr>
            <p:ph idx="1"/>
          </p:nvPr>
        </p:nvSpPr>
        <p:spPr bwMode="auto">
          <a:xfrm>
            <a:off x="195209" y="1411275"/>
            <a:ext cx="854296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Accuracy Score</a:t>
            </a:r>
            <a:r>
              <a:rPr kumimoji="0" lang="en-US" altLang="en-US" sz="2000" b="0" i="0" u="none" strike="noStrike" cap="none" normalizeH="0" baseline="0" dirty="0">
                <a:ln>
                  <a:noFill/>
                </a:ln>
                <a:solidFill>
                  <a:schemeClr val="tx1"/>
                </a:solidFill>
                <a:effectLst/>
                <a:latin typeface="Arial" panose="020B0604020202020204" pitchFamily="34" charset="0"/>
              </a:rPr>
              <a:t>: The model's accuracy was  96</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indicating the percentage of correct predictions made on the test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Confusion Matrix</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confusion matrix provides insights into the true positives, false positives, true negatives, and false negatives, helping assess the classification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heatmap of the confusion matrix visually represents this.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Train-Test Split Ratio</a:t>
            </a:r>
            <a:r>
              <a:rPr kumimoji="0" lang="en-US" altLang="en-US" sz="2000" b="0" i="0" u="none" strike="noStrike" cap="none" normalizeH="0" baseline="0" dirty="0">
                <a:ln>
                  <a:noFill/>
                </a:ln>
                <a:solidFill>
                  <a:schemeClr val="tx1"/>
                </a:solidFill>
                <a:effectLst/>
                <a:latin typeface="Arial" panose="020B0604020202020204" pitchFamily="34" charset="0"/>
              </a:rPr>
              <a:t>: We used an </a:t>
            </a:r>
            <a:r>
              <a:rPr kumimoji="0" lang="en-US" altLang="en-US" sz="2000" b="1" i="0" u="none" strike="noStrike" cap="none" normalizeH="0" baseline="0" dirty="0">
                <a:ln>
                  <a:noFill/>
                </a:ln>
                <a:solidFill>
                  <a:schemeClr val="tx1"/>
                </a:solidFill>
                <a:effectLst/>
                <a:latin typeface="Arial" panose="020B0604020202020204" pitchFamily="34" charset="0"/>
              </a:rPr>
              <a:t>80-20</a:t>
            </a:r>
            <a:r>
              <a:rPr kumimoji="0" lang="en-US" altLang="en-US" sz="2000" b="0" i="0" u="none" strike="noStrike" cap="none" normalizeH="0" baseline="0" dirty="0">
                <a:ln>
                  <a:noFill/>
                </a:ln>
                <a:solidFill>
                  <a:schemeClr val="tx1"/>
                </a:solidFill>
                <a:effectLst/>
                <a:latin typeface="Arial" panose="020B0604020202020204" pitchFamily="34" charset="0"/>
              </a:rPr>
              <a:t> split, with 80% of the data for training and 20% for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Cross-Validation</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5-fold cross-validation</a:t>
            </a:r>
            <a:r>
              <a:rPr kumimoji="0" lang="en-US" altLang="en-US" sz="2000" b="0" i="0" u="none" strike="noStrike" cap="none" normalizeH="0" baseline="0" dirty="0">
                <a:ln>
                  <a:noFill/>
                </a:ln>
                <a:solidFill>
                  <a:schemeClr val="tx1"/>
                </a:solidFill>
                <a:effectLst/>
                <a:latin typeface="Arial" panose="020B0604020202020204" pitchFamily="34" charset="0"/>
              </a:rPr>
              <a:t> was performed, with an average accuracy of </a:t>
            </a:r>
            <a:r>
              <a:rPr kumimoji="0" lang="en-US" altLang="en-US" sz="2000" b="1" i="0" u="none" strike="noStrike" cap="none" normalizeH="0" baseline="0" dirty="0">
                <a:ln>
                  <a:noFill/>
                </a:ln>
                <a:solidFill>
                  <a:schemeClr val="tx1"/>
                </a:solidFill>
                <a:effectLst/>
                <a:latin typeface="Arial" panose="020B0604020202020204" pitchFamily="34" charset="0"/>
              </a:rPr>
              <a:t>XX%</a:t>
            </a:r>
            <a:r>
              <a:rPr kumimoji="0" lang="en-US" altLang="en-US" sz="2000" b="0" i="0" u="none" strike="noStrike" cap="none" normalizeH="0" baseline="0" dirty="0">
                <a:ln>
                  <a:noFill/>
                </a:ln>
                <a:solidFill>
                  <a:schemeClr val="tx1"/>
                </a:solidFill>
                <a:effectLst/>
                <a:latin typeface="Arial" panose="020B0604020202020204" pitchFamily="34" charset="0"/>
              </a:rPr>
              <a:t>. This ensures the model's robustness across different data subsets.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Performance Visualization</a:t>
            </a:r>
            <a:r>
              <a:rPr kumimoji="0" lang="en-US" altLang="en-US" sz="2000" b="0" i="0" u="none" strike="noStrike" cap="none" normalizeH="0" baseline="0" dirty="0">
                <a:ln>
                  <a:noFill/>
                </a:ln>
                <a:solidFill>
                  <a:schemeClr val="tx1"/>
                </a:solidFill>
                <a:effectLst/>
                <a:latin typeface="Arial" panose="020B0604020202020204" pitchFamily="34" charset="0"/>
              </a:rPr>
              <a:t>: A </a:t>
            </a:r>
            <a:r>
              <a:rPr kumimoji="0" lang="en-US" altLang="en-US" sz="2000" b="1" i="0" u="none" strike="noStrike" cap="none" normalizeH="0" baseline="0" dirty="0">
                <a:ln>
                  <a:noFill/>
                </a:ln>
                <a:solidFill>
                  <a:schemeClr val="tx1"/>
                </a:solidFill>
                <a:effectLst/>
                <a:latin typeface="Arial" panose="020B0604020202020204" pitchFamily="34" charset="0"/>
              </a:rPr>
              <a:t>bar chart</a:t>
            </a:r>
            <a:r>
              <a:rPr kumimoji="0" lang="en-US" altLang="en-US" sz="2000" b="0" i="0" u="none" strike="noStrike" cap="none" normalizeH="0" baseline="0" dirty="0">
                <a:ln>
                  <a:noFill/>
                </a:ln>
                <a:solidFill>
                  <a:schemeClr val="tx1"/>
                </a:solidFill>
                <a:effectLst/>
                <a:latin typeface="Arial" panose="020B0604020202020204" pitchFamily="34" charset="0"/>
              </a:rPr>
              <a:t> illustrates the model's accuracy across each fold in cross-validation.</a:t>
            </a:r>
          </a:p>
        </p:txBody>
      </p:sp>
    </p:spTree>
    <p:extLst>
      <p:ext uri="{BB962C8B-B14F-4D97-AF65-F5344CB8AC3E}">
        <p14:creationId xmlns:p14="http://schemas.microsoft.com/office/powerpoint/2010/main" val="2908863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C1984-EF7B-1A89-D65E-93269F17D03A}"/>
              </a:ext>
            </a:extLst>
          </p:cNvPr>
          <p:cNvSpPr>
            <a:spLocks noGrp="1"/>
          </p:cNvSpPr>
          <p:nvPr>
            <p:ph type="title"/>
          </p:nvPr>
        </p:nvSpPr>
        <p:spPr/>
        <p:txBody>
          <a:bodyPr/>
          <a:lstStyle/>
          <a:p>
            <a:r>
              <a:rPr lang="en-IN" b="1" dirty="0"/>
              <a:t>Testing &amp; Results</a:t>
            </a:r>
            <a:endParaRPr lang="en-IN" dirty="0"/>
          </a:p>
        </p:txBody>
      </p:sp>
      <p:sp>
        <p:nvSpPr>
          <p:cNvPr id="4" name="Rectangle 1">
            <a:extLst>
              <a:ext uri="{FF2B5EF4-FFF2-40B4-BE49-F238E27FC236}">
                <a16:creationId xmlns:a16="http://schemas.microsoft.com/office/drawing/2014/main" id="{CB5B48B3-D16D-48DB-C09A-41322B013B56}"/>
              </a:ext>
            </a:extLst>
          </p:cNvPr>
          <p:cNvSpPr>
            <a:spLocks noGrp="1" noChangeArrowheads="1"/>
          </p:cNvSpPr>
          <p:nvPr>
            <p:ph idx="1"/>
          </p:nvPr>
        </p:nvSpPr>
        <p:spPr bwMode="auto">
          <a:xfrm>
            <a:off x="606175" y="2213791"/>
            <a:ext cx="797274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Test Set</a:t>
            </a:r>
            <a:r>
              <a:rPr kumimoji="0" lang="en-US" altLang="en-US" sz="2400" b="0" i="0" u="none" strike="noStrike" cap="none" normalizeH="0" baseline="0" dirty="0">
                <a:ln>
                  <a:noFill/>
                </a:ln>
                <a:solidFill>
                  <a:schemeClr val="tx1"/>
                </a:solidFill>
                <a:effectLst/>
                <a:latin typeface="Arial" panose="020B0604020202020204" pitchFamily="34" charset="0"/>
              </a:rPr>
              <a:t>: The model was tested on 20% of the data, unseen during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Accuracy</a:t>
            </a:r>
            <a:r>
              <a:rPr kumimoji="0" lang="en-US" altLang="en-US" sz="2400" b="0" i="0" u="none" strike="noStrike" cap="none" normalizeH="0" baseline="0" dirty="0">
                <a:ln>
                  <a:noFill/>
                </a:ln>
                <a:solidFill>
                  <a:schemeClr val="tx1"/>
                </a:solidFill>
                <a:effectLst/>
                <a:latin typeface="Arial" panose="020B0604020202020204" pitchFamily="34" charset="0"/>
              </a:rPr>
              <a:t>: The model achieved an accuracy of </a:t>
            </a:r>
            <a:r>
              <a:rPr kumimoji="0" lang="en-US" altLang="en-US" sz="2400" b="1" i="0" u="none" strike="noStrike" cap="none" normalizeH="0" baseline="0" dirty="0">
                <a:ln>
                  <a:noFill/>
                </a:ln>
                <a:solidFill>
                  <a:schemeClr val="tx1"/>
                </a:solidFill>
                <a:effectLst/>
                <a:latin typeface="Arial" panose="020B0604020202020204" pitchFamily="34" charset="0"/>
              </a:rPr>
              <a:t>XX%</a:t>
            </a:r>
            <a:r>
              <a:rPr kumimoji="0" lang="en-US" altLang="en-US" sz="2400" b="0" i="0" u="none" strike="noStrike" cap="none" normalizeH="0" baseline="0" dirty="0">
                <a:ln>
                  <a:noFill/>
                </a:ln>
                <a:solidFill>
                  <a:schemeClr val="tx1"/>
                </a:solidFill>
                <a:effectLst/>
                <a:latin typeface="Arial" panose="020B0604020202020204" pitchFamily="34" charset="0"/>
              </a:rPr>
              <a:t> on the test 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Confusion Matrix</a:t>
            </a:r>
            <a:r>
              <a:rPr kumimoji="0" lang="en-US" altLang="en-US" sz="2400" b="0" i="0" u="none" strike="noStrike" cap="none" normalizeH="0" baseline="0" dirty="0">
                <a:ln>
                  <a:noFill/>
                </a:ln>
                <a:solidFill>
                  <a:schemeClr val="tx1"/>
                </a:solidFill>
                <a:effectLst/>
                <a:latin typeface="Arial" panose="020B0604020202020204" pitchFamily="34" charset="0"/>
              </a:rPr>
              <a:t>: Shows the breakdown of correct and incorrect classifications.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Cross-Validation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5-fold cross-validation</a:t>
            </a:r>
            <a:r>
              <a:rPr kumimoji="0" lang="en-US" altLang="en-US" sz="2400" b="0" i="0" u="none" strike="noStrike" cap="none" normalizeH="0" baseline="0" dirty="0">
                <a:ln>
                  <a:noFill/>
                </a:ln>
                <a:solidFill>
                  <a:schemeClr val="tx1"/>
                </a:solidFill>
                <a:effectLst/>
                <a:latin typeface="Arial" panose="020B0604020202020204" pitchFamily="34" charset="0"/>
              </a:rPr>
              <a:t> yielded an average accuracy of </a:t>
            </a:r>
            <a:r>
              <a:rPr kumimoji="0" lang="en-US" altLang="en-US" sz="2400" b="1" i="0" u="none" strike="noStrike" cap="none" normalizeH="0" baseline="0" dirty="0">
                <a:ln>
                  <a:noFill/>
                </a:ln>
                <a:solidFill>
                  <a:schemeClr val="tx1"/>
                </a:solidFill>
                <a:effectLst/>
                <a:latin typeface="Arial" panose="020B0604020202020204" pitchFamily="34" charset="0"/>
              </a:rPr>
              <a:t>XX%</a:t>
            </a:r>
            <a:r>
              <a:rPr kumimoji="0" lang="en-US" altLang="en-US" sz="2400" b="0" i="0" u="none" strike="noStrike" cap="none" normalizeH="0" baseline="0" dirty="0">
                <a:ln>
                  <a:noFill/>
                </a:ln>
                <a:solidFill>
                  <a:schemeClr val="tx1"/>
                </a:solidFill>
                <a:effectLst/>
                <a:latin typeface="Arial" panose="020B0604020202020204" pitchFamily="34" charset="0"/>
              </a:rPr>
              <a:t>, confirming model robustness.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Performance</a:t>
            </a:r>
            <a:r>
              <a:rPr kumimoji="0" lang="en-US" altLang="en-US" sz="2400" b="0" i="0" u="none" strike="noStrike" cap="none" normalizeH="0" baseline="0" dirty="0">
                <a:ln>
                  <a:noFill/>
                </a:ln>
                <a:solidFill>
                  <a:schemeClr val="tx1"/>
                </a:solidFill>
                <a:effectLst/>
                <a:latin typeface="Arial" panose="020B0604020202020204" pitchFamily="34" charset="0"/>
              </a:rPr>
              <a:t>: A bar chart visualized accuracy across cross-validation folds, demonstrating consistency.</a:t>
            </a:r>
          </a:p>
        </p:txBody>
      </p:sp>
    </p:spTree>
    <p:extLst>
      <p:ext uri="{BB962C8B-B14F-4D97-AF65-F5344CB8AC3E}">
        <p14:creationId xmlns:p14="http://schemas.microsoft.com/office/powerpoint/2010/main" val="49317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B0B1B-007D-2598-1FFB-656449A4A4B2}"/>
              </a:ext>
            </a:extLst>
          </p:cNvPr>
          <p:cNvSpPr>
            <a:spLocks noGrp="1"/>
          </p:cNvSpPr>
          <p:nvPr>
            <p:ph type="title"/>
          </p:nvPr>
        </p:nvSpPr>
        <p:spPr/>
        <p:txBody>
          <a:bodyPr/>
          <a:lstStyle/>
          <a:p>
            <a:r>
              <a:rPr lang="en-IN" dirty="0"/>
              <a:t>Future Scope / Enhancements</a:t>
            </a:r>
          </a:p>
        </p:txBody>
      </p:sp>
      <p:sp>
        <p:nvSpPr>
          <p:cNvPr id="4" name="Rectangle 1">
            <a:extLst>
              <a:ext uri="{FF2B5EF4-FFF2-40B4-BE49-F238E27FC236}">
                <a16:creationId xmlns:a16="http://schemas.microsoft.com/office/drawing/2014/main" id="{2791220B-3797-76BC-DCA0-CB1ACA7FAED2}"/>
              </a:ext>
            </a:extLst>
          </p:cNvPr>
          <p:cNvSpPr>
            <a:spLocks noGrp="1" noChangeArrowheads="1"/>
          </p:cNvSpPr>
          <p:nvPr>
            <p:ph idx="1"/>
          </p:nvPr>
        </p:nvSpPr>
        <p:spPr bwMode="auto">
          <a:xfrm>
            <a:off x="783404" y="2407485"/>
            <a:ext cx="75771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IoT Integration</a:t>
            </a:r>
            <a:r>
              <a:rPr kumimoji="0" lang="en-US" altLang="en-US" sz="2400" b="0" i="0" u="none" strike="noStrike" cap="none" normalizeH="0" baseline="0" dirty="0">
                <a:ln>
                  <a:noFill/>
                </a:ln>
                <a:solidFill>
                  <a:schemeClr val="tx1"/>
                </a:solidFill>
                <a:effectLst/>
                <a:latin typeface="Arial" panose="020B0604020202020204" pitchFamily="34" charset="0"/>
              </a:rPr>
              <a:t> for real-time data collection.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Weather Data</a:t>
            </a:r>
            <a:r>
              <a:rPr kumimoji="0" lang="en-US" altLang="en-US" sz="2400" b="0" i="0" u="none" strike="noStrike" cap="none" normalizeH="0" baseline="0" dirty="0">
                <a:ln>
                  <a:noFill/>
                </a:ln>
                <a:solidFill>
                  <a:schemeClr val="tx1"/>
                </a:solidFill>
                <a:effectLst/>
                <a:latin typeface="Arial" panose="020B0604020202020204" pitchFamily="34" charset="0"/>
              </a:rPr>
              <a:t> to improve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Mobile App</a:t>
            </a:r>
            <a:r>
              <a:rPr kumimoji="0" lang="en-US" altLang="en-US" sz="2400" b="0" i="0" u="none" strike="noStrike" cap="none" normalizeH="0" baseline="0" dirty="0">
                <a:ln>
                  <a:noFill/>
                </a:ln>
                <a:solidFill>
                  <a:schemeClr val="tx1"/>
                </a:solidFill>
                <a:effectLst/>
                <a:latin typeface="Arial" panose="020B0604020202020204" pitchFamily="34" charset="0"/>
              </a:rPr>
              <a:t> for easy farmer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Satellite &amp; GIS Data</a:t>
            </a:r>
            <a:r>
              <a:rPr kumimoji="0" lang="en-US" altLang="en-US" sz="2400" b="0" i="0" u="none" strike="noStrike" cap="none" normalizeH="0" baseline="0" dirty="0">
                <a:ln>
                  <a:noFill/>
                </a:ln>
                <a:solidFill>
                  <a:schemeClr val="tx1"/>
                </a:solidFill>
                <a:effectLst/>
                <a:latin typeface="Arial" panose="020B0604020202020204" pitchFamily="34" charset="0"/>
              </a:rPr>
              <a:t> for location-based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Advanced Models</a:t>
            </a:r>
            <a:r>
              <a:rPr kumimoji="0" lang="en-US" altLang="en-US" sz="2400" b="0" i="0" u="none" strike="noStrike" cap="none" normalizeH="0" baseline="0" dirty="0">
                <a:ln>
                  <a:noFill/>
                </a:ln>
                <a:solidFill>
                  <a:schemeClr val="tx1"/>
                </a:solidFill>
                <a:effectLst/>
                <a:latin typeface="Arial" panose="020B0604020202020204" pitchFamily="34" charset="0"/>
              </a:rPr>
              <a:t> like </a:t>
            </a:r>
            <a:r>
              <a:rPr kumimoji="0" lang="en-US" altLang="en-US" sz="2400" b="0" i="0" u="none" strike="noStrike" cap="none" normalizeH="0" baseline="0" dirty="0" err="1">
                <a:ln>
                  <a:noFill/>
                </a:ln>
                <a:solidFill>
                  <a:schemeClr val="tx1"/>
                </a:solidFill>
                <a:effectLst/>
                <a:latin typeface="Arial" panose="020B0604020202020204" pitchFamily="34" charset="0"/>
              </a:rPr>
              <a:t>XGBoost</a:t>
            </a:r>
            <a:r>
              <a:rPr kumimoji="0" lang="en-US" altLang="en-US" sz="2400" b="0" i="0" u="none" strike="noStrike" cap="none" normalizeH="0" baseline="0" dirty="0">
                <a:ln>
                  <a:noFill/>
                </a:ln>
                <a:solidFill>
                  <a:schemeClr val="tx1"/>
                </a:solidFill>
                <a:effectLst/>
                <a:latin typeface="Arial" panose="020B0604020202020204" pitchFamily="34" charset="0"/>
              </a:rPr>
              <a:t> or Deep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Multilingual Support</a:t>
            </a:r>
            <a:r>
              <a:rPr kumimoji="0" lang="en-US" altLang="en-US" sz="2400" b="0" i="0" u="none" strike="noStrike" cap="none" normalizeH="0" baseline="0" dirty="0">
                <a:ln>
                  <a:noFill/>
                </a:ln>
                <a:solidFill>
                  <a:schemeClr val="tx1"/>
                </a:solidFill>
                <a:effectLst/>
                <a:latin typeface="Arial" panose="020B0604020202020204" pitchFamily="34" charset="0"/>
              </a:rPr>
              <a:t> for wider reach.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Scalability</a:t>
            </a:r>
            <a:r>
              <a:rPr kumimoji="0" lang="en-US" altLang="en-US" sz="2400" b="0" i="0" u="none" strike="noStrike" cap="none" normalizeH="0" baseline="0" dirty="0">
                <a:ln>
                  <a:noFill/>
                </a:ln>
                <a:solidFill>
                  <a:schemeClr val="tx1"/>
                </a:solidFill>
                <a:effectLst/>
                <a:latin typeface="Arial" panose="020B0604020202020204" pitchFamily="34" charset="0"/>
              </a:rPr>
              <a:t> to include more crops and regions.</a:t>
            </a:r>
          </a:p>
        </p:txBody>
      </p:sp>
    </p:spTree>
    <p:extLst>
      <p:ext uri="{BB962C8B-B14F-4D97-AF65-F5344CB8AC3E}">
        <p14:creationId xmlns:p14="http://schemas.microsoft.com/office/powerpoint/2010/main" val="1045054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a:t>
            </a:r>
          </a:p>
        </p:txBody>
      </p:sp>
      <p:sp>
        <p:nvSpPr>
          <p:cNvPr id="3" name="Content Placeholder 2"/>
          <p:cNvSpPr>
            <a:spLocks noGrp="1"/>
          </p:cNvSpPr>
          <p:nvPr>
            <p:ph idx="1"/>
          </p:nvPr>
        </p:nvSpPr>
        <p:spPr/>
        <p:txBody>
          <a:bodyPr>
            <a:noAutofit/>
          </a:bodyPr>
          <a:lstStyle/>
          <a:p>
            <a:r>
              <a:rPr sz="1600" dirty="0"/>
              <a:t>The system consists of the following key modules:</a:t>
            </a:r>
          </a:p>
          <a:p>
            <a:endParaRPr sz="1600" dirty="0"/>
          </a:p>
          <a:p>
            <a:r>
              <a:rPr sz="1600" dirty="0"/>
              <a:t>1. Data Collection: Gathering data on soil type, nutrient levels, rainfall, and temperature.</a:t>
            </a:r>
          </a:p>
          <a:p>
            <a:endParaRPr sz="1600" dirty="0"/>
          </a:p>
          <a:p>
            <a:r>
              <a:rPr sz="1600" dirty="0"/>
              <a:t>2. Data Preprocessing: Cleaning the data by handling missing values and normalizing features.</a:t>
            </a:r>
          </a:p>
          <a:p>
            <a:endParaRPr sz="1600" dirty="0"/>
          </a:p>
          <a:p>
            <a:r>
              <a:rPr sz="1600" dirty="0"/>
              <a:t>3. Model Training: Using ML algorithms like Decision Trees, Random Forest, and SVM to train models based on historical data.</a:t>
            </a:r>
          </a:p>
          <a:p>
            <a:endParaRPr sz="1600" dirty="0"/>
          </a:p>
          <a:p>
            <a:r>
              <a:rPr sz="1600" dirty="0"/>
              <a:t>4. Prediction and Recommendation: Providing the best crop recommendation based on user input.</a:t>
            </a:r>
          </a:p>
          <a:p>
            <a:endParaRPr sz="1600" dirty="0"/>
          </a:p>
          <a:p>
            <a:r>
              <a:rPr sz="1600" dirty="0"/>
              <a:t>5. User Interface: Developing a web or mobile-based dashboard for farmers to access recommendations.</a:t>
            </a:r>
          </a:p>
        </p:txBody>
      </p:sp>
      <p:pic>
        <p:nvPicPr>
          <p:cNvPr id="4" name="Picture 2">
            <a:extLst>
              <a:ext uri="{FF2B5EF4-FFF2-40B4-BE49-F238E27FC236}">
                <a16:creationId xmlns:a16="http://schemas.microsoft.com/office/drawing/2014/main" id="{CF04113A-4739-25B3-B378-BC0669698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fontScale="85000" lnSpcReduction="20000"/>
          </a:bodyPr>
          <a:lstStyle/>
          <a:p>
            <a:r>
              <a:rPr sz="3000" dirty="0"/>
              <a:t>The Crop Recommendation System provides an AI-driven solution to optimize agricultural practices by recommending suitable crops based on environmental factors.</a:t>
            </a:r>
          </a:p>
          <a:p>
            <a:endParaRPr sz="3000" dirty="0"/>
          </a:p>
          <a:p>
            <a:r>
              <a:rPr sz="3000" dirty="0"/>
              <a:t>By integrating machine learning techniques, the system improves decision-making, enhances productivity, and reduces risks associated with crop selection.</a:t>
            </a:r>
          </a:p>
          <a:p>
            <a:endParaRPr sz="3000" dirty="0"/>
          </a:p>
          <a:p>
            <a:r>
              <a:rPr sz="3000" dirty="0"/>
              <a:t>Future enhancements include incorporating IoT-based real-time soil monitoring and expanding the dataset for improved accuracy</a:t>
            </a:r>
            <a:r>
              <a:rPr dirty="0"/>
              <a:t>.</a:t>
            </a:r>
          </a:p>
        </p:txBody>
      </p:sp>
      <p:pic>
        <p:nvPicPr>
          <p:cNvPr id="4" name="Picture 2">
            <a:extLst>
              <a:ext uri="{FF2B5EF4-FFF2-40B4-BE49-F238E27FC236}">
                <a16:creationId xmlns:a16="http://schemas.microsoft.com/office/drawing/2014/main" id="{0BC7665C-5C3C-7B84-075C-A791F9CC6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Autofit/>
          </a:bodyPr>
          <a:lstStyle/>
          <a:p>
            <a:r>
              <a:rPr sz="2000" dirty="0"/>
              <a:t>1. Smith, J., et al. (2020). 'Machine Learning-Based Crop Recommendation System'. Journal of Agricultural Sciences.</a:t>
            </a:r>
          </a:p>
          <a:p>
            <a:endParaRPr sz="2000" dirty="0"/>
          </a:p>
          <a:p>
            <a:r>
              <a:rPr sz="2000" dirty="0"/>
              <a:t>2. Patel, R., &amp; Kumar, S. (2019). 'IoT in Smart Agriculture: A Review'. IEEE Transactions on IoT.</a:t>
            </a:r>
          </a:p>
          <a:p>
            <a:endParaRPr sz="2000" dirty="0"/>
          </a:p>
          <a:p>
            <a:r>
              <a:rPr sz="2000" dirty="0"/>
              <a:t>3. Gupta, A., et al. (2021). 'AI in Precision Farming'. International Conference on AI in Agriculture.</a:t>
            </a:r>
          </a:p>
          <a:p>
            <a:endParaRPr sz="2000" dirty="0"/>
          </a:p>
          <a:p>
            <a:r>
              <a:rPr sz="2000" dirty="0"/>
              <a:t>4. Wang, L., &amp; Lee, C. (2022). 'Big Data Applications in Agriculture'. Springer.</a:t>
            </a:r>
          </a:p>
          <a:p>
            <a:endParaRPr sz="2000" dirty="0"/>
          </a:p>
          <a:p>
            <a:r>
              <a:rPr sz="2000" dirty="0"/>
              <a:t>5. Zhang, X., et al. (2023). 'Deep Learning for Crop Yield Prediction'. Elsevier.</a:t>
            </a:r>
          </a:p>
        </p:txBody>
      </p:sp>
      <p:pic>
        <p:nvPicPr>
          <p:cNvPr id="4" name="Picture 2">
            <a:extLst>
              <a:ext uri="{FF2B5EF4-FFF2-40B4-BE49-F238E27FC236}">
                <a16:creationId xmlns:a16="http://schemas.microsoft.com/office/drawing/2014/main" id="{6398F1CD-773A-895A-7A9D-9D33DA091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690" y="82790"/>
            <a:ext cx="247650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190</TotalTime>
  <Words>1339</Words>
  <Application>Microsoft Office PowerPoint</Application>
  <PresentationFormat>On-screen Show (4:3)</PresentationFormat>
  <Paragraphs>162</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Crop Recommendation System: A Data-Driven Approach to Precision Agriculture </vt:lpstr>
      <vt:lpstr>Abstract</vt:lpstr>
      <vt:lpstr>Objectives</vt:lpstr>
      <vt:lpstr>Introduction</vt:lpstr>
      <vt:lpstr>Literature Survey</vt:lpstr>
      <vt:lpstr>EXISTING MODEL</vt:lpstr>
      <vt:lpstr>PROPOSED MODEL</vt:lpstr>
      <vt:lpstr>Project Components </vt:lpstr>
      <vt:lpstr>Problem Statement</vt:lpstr>
      <vt:lpstr>Algorithm’S</vt:lpstr>
      <vt:lpstr>Model Accuracy &amp; Performance</vt:lpstr>
      <vt:lpstr>Testing &amp; Results</vt:lpstr>
      <vt:lpstr>Future Scope / Enhancements</vt:lpstr>
      <vt:lpstr>Modules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KAMESH B</dc:creator>
  <cp:keywords/>
  <dc:description>generated using python-pptx</dc:description>
  <cp:lastModifiedBy>KAMESH B</cp:lastModifiedBy>
  <cp:revision>5</cp:revision>
  <dcterms:created xsi:type="dcterms:W3CDTF">2013-01-27T09:14:16Z</dcterms:created>
  <dcterms:modified xsi:type="dcterms:W3CDTF">2025-05-09T06:45:29Z</dcterms:modified>
  <cp:category/>
</cp:coreProperties>
</file>